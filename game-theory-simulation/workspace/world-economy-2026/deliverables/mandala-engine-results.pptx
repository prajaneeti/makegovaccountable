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(r)</c:v>
                </c:pt>
              </c:strCache>
            </c:strRef>
          </c:tx>
          <c:spPr>
            <a:solidFill>
              <a:srgbClr val="C9A24A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2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A2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3B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E3B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E3B3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ST_GULF ↔ ST_EU</c:v>
                  </c:pt>
                  <c:pt idx="1">
                    <c:v>ST_GULF ↔ ST_RU</c:v>
                  </c:pt>
                  <c:pt idx="2">
                    <c:v>ST_GULF ↔ ST_JP_KR</c:v>
                  </c:pt>
                  <c:pt idx="3">
                    <c:v>ST_GULF ↔ CORP_TECH</c:v>
                  </c:pt>
                  <c:pt idx="4">
                    <c:v>CORP_SEMI ↔ CORP_TECH</c:v>
                  </c:pt>
                  <c:pt idx="5">
                    <c:v>ST_GULF ↔ CORP_SEMI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-0.95</c:v>
                </c:pt>
                <c:pt idx="1">
                  <c:v>0.94</c:v>
                </c:pt>
                <c:pt idx="2">
                  <c:v>-0.6</c:v>
                </c:pt>
                <c:pt idx="3">
                  <c:v>0.12</c:v>
                </c:pt>
                <c:pt idx="4">
                  <c:v>0.12</c:v>
                </c:pt>
                <c:pt idx="5">
                  <c:v>0.11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1"/>
        </c:scaling>
        <c:delete val="0"/>
        <c:axPos val="b"/>
        <c:majorGridlines>
          <c:spPr>
            <a:ln w="12700" cap="flat">
              <a:solidFill>
                <a:srgbClr val="E3E5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017520"/>
            <a:ext cx="4754880" cy="4754880"/>
          </a:xfrm>
          <a:prstGeom prst="ellipse">
            <a:avLst/>
          </a:prstGeom>
          <a:ln w="12700">
            <a:solidFill>
              <a:srgbClr val="C9A24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566160"/>
            <a:ext cx="3657600" cy="3657600"/>
          </a:xfrm>
          <a:prstGeom prst="ellipse">
            <a:avLst/>
          </a:prstGeom>
          <a:ln w="12700">
            <a:solidFill>
              <a:srgbClr val="C9A24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4114800"/>
            <a:ext cx="2560320" cy="2560320"/>
          </a:xfrm>
          <a:prstGeom prst="ellipse">
            <a:avLst/>
          </a:prstGeom>
          <a:ln w="12700">
            <a:solidFill>
              <a:srgbClr val="C9A24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4663440"/>
            <a:ext cx="1463040" cy="1463040"/>
          </a:xfrm>
          <a:prstGeom prst="ellipse">
            <a:avLst/>
          </a:prstGeom>
          <a:ln w="12700">
            <a:solidFill>
              <a:srgbClr val="C9A24A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95560" y="5349240"/>
            <a:ext cx="91440" cy="91440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SIMULATION  —  RESULTS BRIEFING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774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Mandala Engine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sourced game-theory simulation of the world economy, 2026–2036 — what it found, what it got wrong, and what survived.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actors sourced   ·   15 researched theatres   ·   300 runs × 10 years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a forecast. A map.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we set out to build was never a single predicted headline.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166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127000" dist="38100" dir="5400000">
              <a:srgbClr val="8890B5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3317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FRAMING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971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trike="sngStrike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“China invades Taiwan by 2031.”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062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right answer, discoverable only in hindsight. Anyone claiming otherwise is narrating, not analyzing.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26480" y="2057400"/>
            <a:ext cx="5440680" cy="3566160"/>
          </a:xfrm>
          <a:prstGeom prst="rect">
            <a:avLst/>
          </a:prstGeom>
          <a:solidFill>
            <a:srgbClr val="12172A"/>
          </a:solidFill>
          <a:ln/>
          <a:effectLst>
            <a:outerShdw sx="100000" sy="100000" kx="0" ky="0" algn="bl" rotWithShape="0" blurRad="127000" dist="38100" dir="5400000">
              <a:srgbClr val="8890B5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31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49440" y="23591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FRAMING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400800" y="29260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Strait interdiction of 30+ days occurs in a defined share of simulated histories, clustered where a specific fiscal condition holds for three-plus years.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4709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Distributions, branch points, and named leading indicators — not a single date.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also carries one unconstrained observer — no election, no mandate, full mobility — the seat the whole exercise is really asking about.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specialists, one hand-off chain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0700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 and arithmetic never happen in the same head.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8890B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468880"/>
            <a:ext cx="914400" cy="914400"/>
          </a:xfrm>
          <a:prstGeom prst="ellipse">
            <a:avLst/>
          </a:prstGeom>
          <a:solidFill>
            <a:srgbClr val="12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348" y="2724912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Cartographer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402336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Derives who matters from first principles — chokepoints and flows, never a list of famous countries.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41248" y="5440680"/>
            <a:ext cx="2112264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41248" y="550468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actors.json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83280" y="214884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8890B5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83380" y="2468880"/>
            <a:ext cx="914400" cy="914400"/>
          </a:xfrm>
          <a:prstGeom prst="ellipse">
            <a:avLst/>
          </a:prstGeom>
          <a:solidFill>
            <a:srgbClr val="12172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548" y="2724912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47872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Researcher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3584448" y="402336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each actor into a real utility function: stated position vs. revealed action, dated and sourced.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584448" y="5440680"/>
            <a:ext cx="2112264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dash"/>
          </a:ln>
        </p:spPr>
      </p:sp>
      <p:sp>
        <p:nvSpPr>
          <p:cNvPr id="19" name="Text 15"/>
          <p:cNvSpPr txBox="1"/>
          <p:nvPr/>
        </p:nvSpPr>
        <p:spPr>
          <a:xfrm>
            <a:off x="3584448" y="550468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dossiers/*.json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126480" y="214884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8890B5">
                <a:alpha val="1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926580" y="2468880"/>
            <a:ext cx="914400" cy="914400"/>
          </a:xfrm>
          <a:prstGeom prst="ellipse">
            <a:avLst/>
          </a:prstGeom>
          <a:solidFill>
            <a:srgbClr val="12172A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2724912"/>
            <a:ext cx="512064" cy="51206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91072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3093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Orchestrator</a:t>
            </a:r>
            <a:endParaRPr lang="en-US" sz="1900" dirty="0"/>
          </a:p>
        </p:txBody>
      </p:sp>
      <p:sp>
        <p:nvSpPr>
          <p:cNvPr id="25" name="Text 20"/>
          <p:cNvSpPr txBox="1"/>
          <p:nvPr/>
        </p:nvSpPr>
        <p:spPr>
          <a:xfrm>
            <a:off x="6327648" y="402336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board — hundreds of ten-year histories through a solver that computes real equilibria.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327648" y="5440680"/>
            <a:ext cx="2112264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dash"/>
          </a:ln>
        </p:spPr>
      </p:sp>
      <p:sp>
        <p:nvSpPr>
          <p:cNvPr id="27" name="Text 22"/>
          <p:cNvSpPr txBox="1"/>
          <p:nvPr/>
        </p:nvSpPr>
        <p:spPr>
          <a:xfrm>
            <a:off x="6327648" y="550468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runs.jsonl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8869680" y="2148840"/>
            <a:ext cx="25146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  <a:effectLst>
            <a:outerShdw sx="100000" sy="100000" kx="0" ky="0" algn="bl" rotWithShape="0" blurRad="101600" dist="25400" dir="5400000">
              <a:srgbClr val="8890B5">
                <a:alpha val="1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9669780" y="2468880"/>
            <a:ext cx="914400" cy="914400"/>
          </a:xfrm>
          <a:prstGeom prst="ellipse">
            <a:avLst/>
          </a:prstGeom>
          <a:solidFill>
            <a:srgbClr val="12172A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0948" y="2724912"/>
            <a:ext cx="512064" cy="51206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034272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052560" y="356616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Auditor</a:t>
            </a:r>
            <a:endParaRPr lang="en-US" sz="1900" dirty="0"/>
          </a:p>
        </p:txBody>
      </p:sp>
      <p:sp>
        <p:nvSpPr>
          <p:cNvPr id="33" name="Text 27"/>
          <p:cNvSpPr txBox="1"/>
          <p:nvPr/>
        </p:nvSpPr>
        <p:spPr>
          <a:xfrm>
            <a:off x="9070848" y="4023360"/>
            <a:ext cx="2112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Red-teams the finished run on purpose — hunts for the constraint that never binds, the story that feels too neat.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9070848" y="5440680"/>
            <a:ext cx="2112264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dash"/>
          </a:ln>
        </p:spPr>
      </p:sp>
      <p:sp>
        <p:nvSpPr>
          <p:cNvPr id="35" name="Text 29"/>
          <p:cNvSpPr txBox="1"/>
          <p:nvPr/>
        </p:nvSpPr>
        <p:spPr>
          <a:xfrm>
            <a:off x="9070848" y="5504688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9A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audit.md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actually got built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2606040" cy="3291840"/>
          </a:xfrm>
          <a:prstGeom prst="rect">
            <a:avLst/>
          </a:prstGeom>
          <a:solidFill>
            <a:srgbClr val="1B22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520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actors, fully sourced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stub dossiers remain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920240"/>
            <a:ext cx="2606040" cy="3291840"/>
          </a:xfrm>
          <a:prstGeom prst="rect">
            <a:avLst/>
          </a:prstGeom>
          <a:solidFill>
            <a:srgbClr val="1B224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6616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15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520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theatres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left on generic fallback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3291840"/>
          </a:xfrm>
          <a:prstGeom prst="rect">
            <a:avLst/>
          </a:prstGeom>
          <a:solidFill>
            <a:srgbClr val="1B224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5508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300×10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520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run-years simulated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→ 2036, Monte Carlo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6840" y="1920240"/>
            <a:ext cx="2606040" cy="3291840"/>
          </a:xfrm>
          <a:prstGeom prst="rect">
            <a:avLst/>
          </a:prstGeom>
          <a:solidFill>
            <a:srgbClr val="1B22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0" y="228600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0.0</a:t>
            </a:r>
            <a:endParaRPr lang="en-US" sz="46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35204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resource-ledger drift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43434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exact, independently re-derived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actor: real utility weights, discount rates, tripwires — sourced from live research, not assumed.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 built this to argue with itself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models get quietly wrong and stay that way. Here is what this one caught in itself, in order.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9384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stood up, flagged illustrative-only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1945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actors, placeholder data — built to prove the machinery before spending real research on it.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85800" y="2697480"/>
            <a:ext cx="1033272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25496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27249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research launched on every actor, in parallel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234440" y="309067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position vs. revealed action, dated and sourced. Result: 0 stub actors remain.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85800" y="3593592"/>
            <a:ext cx="1033272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721608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36210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the conservation check had been silently disabled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398678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tolerance so loose it reported “balanced” regardless of outcome — rebuilt to track every unit of value to a named source.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85800" y="4489704"/>
            <a:ext cx="1033272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61772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45171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0 of 95 sourced real-world constraints could ever bind</a:t>
            </a:r>
            <a:endParaRPr lang="en-US" sz="1550" dirty="0"/>
          </a:p>
        </p:txBody>
      </p:sp>
      <p:sp>
        <p:nvSpPr>
          <p:cNvPr id="18" name="Text 12"/>
          <p:cNvSpPr txBox="1"/>
          <p:nvPr/>
        </p:nvSpPr>
        <p:spPr>
          <a:xfrm>
            <a:off x="1234440" y="488289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was right; the plumbing connecting it to the solver wasn't — rebuilt the payoff logic for all 15 theatres.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85800" y="5385816"/>
            <a:ext cx="10332720" cy="0"/>
          </a:xfrm>
          <a:prstGeom prst="line">
            <a:avLst/>
          </a:prstGeom>
          <a:noFill/>
          <a:ln w="12700">
            <a:solidFill>
              <a:srgbClr val="E3E5EE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51383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54132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Evidence-driven actor splits, not tidiness-driven ones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1234440" y="57790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bank-stress data showed one “bank” was really acting as two — the model now agrees.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 we tried to break it again — independently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9C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adversarial pass, with no stake in the result, re-derived everything from the raw run data.</a:t>
            </a:r>
            <a:endParaRPr lang="en-US" sz="15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Fatal  ·  4 Material findings — two of the Fatal ones were in our own headline claims.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337560" cy="3063240"/>
          </a:xfrm>
          <a:prstGeom prst="rect">
            <a:avLst/>
          </a:prstGeom>
          <a:solidFill>
            <a:srgbClr val="1B224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26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“One axis” claim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Retracted. Direct correlation testing found no such structure — the audit ran the report's own named test on itself.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60520" y="2651760"/>
            <a:ext cx="3337560" cy="3063240"/>
          </a:xfrm>
          <a:prstGeom prst="rect">
            <a:avLst/>
          </a:prstGeom>
          <a:solidFill>
            <a:srgbClr val="1B224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926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“Constraint arbitrage” claim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Retracted. The named actor's constraint never bound; its choices were statistically random.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680960" y="2651760"/>
            <a:ext cx="3337560" cy="3063240"/>
          </a:xfrm>
          <a:prstGeom prst="rect">
            <a:avLst/>
          </a:prstGeom>
          <a:solidFill>
            <a:srgbClr val="1B224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9260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909560" y="35661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Ledger conservation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790956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Confirmed. Independently re-derived from raw state, not the recorded field — exact.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retraction below is reflected in the results that follow — nothing here is presented as more than the audit could verify.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actually held 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real, quantified relationship survived the audit's perturbation test. The rest didn't hold together.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3749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&amp; ROBUST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3774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producers move opposite energy-import-exposed economies. Held under a ±30% shock-magnitude perturbation, full sample.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818120" y="3977640"/>
            <a:ext cx="3749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SIGNAL HERE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3434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“tech complex” isn't the energy axis's mirror image — it barely correlates with the energy axis, or even with itself.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a real edge could come from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70992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foreknowledge — demonstrated</a:t>
            </a:r>
            <a:endParaRPr lang="en-US" sz="155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207568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War-risk insurance pricing and shadow-fleet tracking are real, public, dated series that move ahead of this model's own outcomes.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08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89864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arbitrage — not yet demonstrated at scale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32644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95 sourced constraints show real, state-dependent tripwire behavior in this run — not the capital-markets rule a trade would need.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97764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976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40873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arbitrage — not yet demonstrated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44531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and pension-fund mechanics are the least developed part of the model — the most likely edge to strengthen next.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516636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864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5276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ownership — not OBS's role</a:t>
            </a:r>
            <a:endParaRPr lang="en-US" sz="1550" dirty="0"/>
          </a:p>
        </p:txBody>
      </p:sp>
      <p:sp>
        <p:nvSpPr>
          <p:cNvPr id="18" name="Text 12"/>
          <p:cNvSpPr txBox="1"/>
          <p:nvPr/>
        </p:nvSpPr>
        <p:spPr>
          <a:xfrm>
            <a:off x="1554480" y="564184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payoff belongs to market-makers and reinsurers in this model, by design — occupying it directly is a liability, not a strategy.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2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still doesn't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plainly, because a model that hides its limits is worth less than one that states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28016" cy="128016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8562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observer “seats” aren't simulated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402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return series, drawdown, or entry timing is computed for any position — that layer is analyst interpretation, clearly labeled as such.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035808"/>
            <a:ext cx="128016" cy="128016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of 95 sourced constraints truly bind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644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are real, sourced research that the solver can't yet act on — documentation ahead of mechanics, not the reverse.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4059936"/>
            <a:ext cx="128016" cy="128016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9044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Household-tier mechanics are the thinnest layer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28853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Wage-earner and pension dynamics are simplified relative to states, central banks, and firms.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084064"/>
            <a:ext cx="128016" cy="128016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92861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Conflict-linked shocks still fire above nominal rate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531266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structural fix reduced the effect; it isn't fully closed — late-run divergence should be read as lower-confidence.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94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would make this trustworthy enough to trade 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965960"/>
            <a:ext cx="502920" cy="502920"/>
          </a:xfrm>
          <a:prstGeom prst="ellipse">
            <a:avLst/>
          </a:prstGeom>
          <a:solidFill>
            <a:srgbClr val="1B2245"/>
          </a:solidFill>
          <a:ln w="19050">
            <a:solidFill>
              <a:srgbClr val="C9A2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84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observer seats into the solver so positioning is computed, not narrated.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2880360"/>
            <a:ext cx="502920" cy="502920"/>
          </a:xfrm>
          <a:prstGeom prst="ellipse">
            <a:avLst/>
          </a:prstGeom>
          <a:solidFill>
            <a:srgbClr val="1B2245"/>
          </a:solidFill>
          <a:ln w="19050">
            <a:solidFill>
              <a:srgbClr val="C9A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986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researched, actor-specific payoff logic and binding constraints beyond today's small set.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1B2245"/>
          </a:solidFill>
          <a:ln w="19050">
            <a:solidFill>
              <a:srgbClr val="C9A2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13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Deepen household and pension-fund mechanics — today's thinnest layer.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4709160"/>
            <a:ext cx="502920" cy="502920"/>
          </a:xfrm>
          <a:prstGeom prst="ellipse">
            <a:avLst/>
          </a:prstGeom>
          <a:solidFill>
            <a:srgbClr val="1B2245"/>
          </a:solidFill>
          <a:ln w="19050">
            <a:solidFill>
              <a:srgbClr val="C9A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7274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C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shock's frequency against real historical base rates.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77440" cy="2377440"/>
          </a:xfrm>
          <a:prstGeom prst="ellipse">
            <a:avLst/>
          </a:prstGeom>
          <a:ln w="12700">
            <a:solidFill>
              <a:srgbClr val="C9A24A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868680"/>
            <a:ext cx="1737360" cy="1737360"/>
          </a:xfrm>
          <a:prstGeom prst="ellipse">
            <a:avLst/>
          </a:prstGeom>
          <a:ln w="12700">
            <a:solidFill>
              <a:srgbClr val="C9A24A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188720"/>
            <a:ext cx="1097280" cy="1097280"/>
          </a:xfrm>
          <a:prstGeom prst="ellipse">
            <a:avLst/>
          </a:prstGeom>
          <a:ln w="12700">
            <a:solidFill>
              <a:srgbClr val="C9A24A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1700784"/>
            <a:ext cx="73152" cy="73152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9718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“Bet on the energy axis.</a:t>
            </a:r>
            <a:endParaRPr lang="en-US" sz="3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2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Bet on almost nothing else here — yet.”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463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50" dirty="0">
                <a:solidFill>
                  <a:srgbClr val="C7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delivered isn't a forecast. It's a pipeline that produced a real, verifiable signal — and, pushed to defend its other claims, corrected itself instead of standing by them.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 ENGINE  —  40 actors  ·  15 theatres  ·  300 runs × 10 years  ·  0.0 ledger drift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2026-09-12T13:03:14Z</dcterms:created>
  <dcterms:modified xsi:type="dcterms:W3CDTF">2026-09-12T13:03:14Z</dcterms:modified>
</cp:coreProperties>
</file>